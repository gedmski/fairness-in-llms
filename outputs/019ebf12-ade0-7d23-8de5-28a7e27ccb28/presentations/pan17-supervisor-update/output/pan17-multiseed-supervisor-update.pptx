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143b5dbd04a7a" /><Relationship Type="http://schemas.openxmlformats.org/officeDocument/2006/relationships/extended-properties" Target="/docProps/app.xml" Id="Rccfb505645b148d8" /><Relationship Type="http://schemas.openxmlformats.org/officeDocument/2006/relationships/officeDocument" Target="/ppt/presentation.xml" Id="R356d226d8a214e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5ef8b4df774d9d"/>
  </p:sldMasterIdLst>
  <p:notesMasterIdLst>
    <p:notesMasterId xmlns:r="http://schemas.openxmlformats.org/officeDocument/2006/relationships" r:id="Rc5606cff70704fdd"/>
  </p:notesMasterIdLst>
  <p:sldIdLst>
    <p:sldId xmlns:r="http://schemas.openxmlformats.org/officeDocument/2006/relationships" id="256" r:id="Rb6663841fcc54d8a"/>
    <p:sldId xmlns:r="http://schemas.openxmlformats.org/officeDocument/2006/relationships" id="257" r:id="Rd1838da6d37440b0"/>
    <p:sldId xmlns:r="http://schemas.openxmlformats.org/officeDocument/2006/relationships" id="258" r:id="R72865467c4514817"/>
    <p:sldId xmlns:r="http://schemas.openxmlformats.org/officeDocument/2006/relationships" id="259" r:id="R184e68439f91494b"/>
    <p:sldId xmlns:r="http://schemas.openxmlformats.org/officeDocument/2006/relationships" id="260" r:id="R8d3bd5d75f3c4d69"/>
    <p:sldId xmlns:r="http://schemas.openxmlformats.org/officeDocument/2006/relationships" id="261" r:id="R2c53fb6679bb4c33"/>
    <p:sldId xmlns:r="http://schemas.openxmlformats.org/officeDocument/2006/relationships" id="262" r:id="R15132d05cdeb4f27"/>
    <p:sldId xmlns:r="http://schemas.openxmlformats.org/officeDocument/2006/relationships" id="263" r:id="Re2e23aede1cc43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7dd5c92ccb4232" /><Relationship Type="http://schemas.openxmlformats.org/officeDocument/2006/relationships/slideMaster" Target="/ppt/slideMasters/slideMaster1.xml" Id="R3f5ef8b4df774d9d" /><Relationship Type="http://schemas.openxmlformats.org/officeDocument/2006/relationships/notesMaster" Target="/ppt/notesMasters/notesMaster1.xml" Id="Rc5606cff70704fdd" /><Relationship Type="http://schemas.openxmlformats.org/officeDocument/2006/relationships/presProps" Target="/ppt/presProps.xml" Id="Rdcf038e994244510" /><Relationship Type="http://schemas.openxmlformats.org/officeDocument/2006/relationships/viewProps" Target="/ppt/viewProps.xml" Id="R27473605b5304aeb" /><Relationship Type="http://schemas.openxmlformats.org/officeDocument/2006/relationships/tableStyles" Target="/ppt/tableStyles.xml" Id="R230bb48f96264626" /><Relationship Type="http://schemas.openxmlformats.org/officeDocument/2006/relationships/slide" Target="/ppt/slides/slide1.xml" Id="Rb6663841fcc54d8a" /><Relationship Type="http://schemas.openxmlformats.org/officeDocument/2006/relationships/slide" Target="/ppt/slides/slide2.xml" Id="Rd1838da6d37440b0" /><Relationship Type="http://schemas.openxmlformats.org/officeDocument/2006/relationships/slide" Target="/ppt/slides/slide3.xml" Id="R72865467c4514817" /><Relationship Type="http://schemas.openxmlformats.org/officeDocument/2006/relationships/slide" Target="/ppt/slides/slide4.xml" Id="R184e68439f91494b" /><Relationship Type="http://schemas.openxmlformats.org/officeDocument/2006/relationships/slide" Target="/ppt/slides/slide5.xml" Id="R8d3bd5d75f3c4d69" /><Relationship Type="http://schemas.openxmlformats.org/officeDocument/2006/relationships/slide" Target="/ppt/slides/slide6.xml" Id="R2c53fb6679bb4c33" /><Relationship Type="http://schemas.openxmlformats.org/officeDocument/2006/relationships/slide" Target="/ppt/slides/slide7.xml" Id="R15132d05cdeb4f27" /><Relationship Type="http://schemas.openxmlformats.org/officeDocument/2006/relationships/slide" Target="/ppt/slides/slide8.xml" Id="Re2e23aede1cc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42e66b350d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129990fbc4895" /><Relationship Type="http://schemas.openxmlformats.org/officeDocument/2006/relationships/notesMaster" Target="/ppt/notesMasters/notesMaster1.xml" Id="R8be5165c20dc4c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0a1cd9469c454b" /><Relationship Type="http://schemas.openxmlformats.org/officeDocument/2006/relationships/notesMaster" Target="/ppt/notesMasters/notesMaster1.xml" Id="R3fc73a1f7c3a43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c636954f2e41d4" /><Relationship Type="http://schemas.openxmlformats.org/officeDocument/2006/relationships/notesMaster" Target="/ppt/notesMasters/notesMaster1.xml" Id="Re60108285fa840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da34ecd314a4e" /><Relationship Type="http://schemas.openxmlformats.org/officeDocument/2006/relationships/notesMaster" Target="/ppt/notesMasters/notesMaster1.xml" Id="Rb22c5e5a0f154b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7beb3a9a24857" /><Relationship Type="http://schemas.openxmlformats.org/officeDocument/2006/relationships/notesMaster" Target="/ppt/notesMasters/notesMaster1.xml" Id="Rfc62b7e1c2d8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52d9887f7a47eb" /><Relationship Type="http://schemas.openxmlformats.org/officeDocument/2006/relationships/notesMaster" Target="/ppt/notesMasters/notesMaster1.xml" Id="Rdcca2e885a3e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67e6ec73e549b8" /><Relationship Type="http://schemas.openxmlformats.org/officeDocument/2006/relationships/notesMaster" Target="/ppt/notesMasters/notesMaster1.xml" Id="R00ab8b5997a1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12a49bcfae4ade" /><Relationship Type="http://schemas.openxmlformats.org/officeDocument/2006/relationships/notesMaster" Target="/ppt/notesMasters/notesMaster1.xml" Id="R05961abb95164c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b292084844f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590cc49e2948fb" /><Relationship Type="http://schemas.openxmlformats.org/officeDocument/2006/relationships/slideLayout" Target="/ppt/slideLayouts/slideLayout1.xml" Id="R957f8f1b5d5a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7f8f1b5d5a47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2f8ec35ee428b" /><Relationship Type="http://schemas.openxmlformats.org/officeDocument/2006/relationships/notesSlide" Target="/ppt/notesSlides/notesSlide1.xml" Id="R4f9c97cb0a114c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1fd40e57745e0" /><Relationship Type="http://schemas.openxmlformats.org/officeDocument/2006/relationships/notesSlide" Target="/ppt/notesSlides/notesSlide2.xml" Id="Rfbf86582cec64b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dfb28534d4330" /><Relationship Type="http://schemas.openxmlformats.org/officeDocument/2006/relationships/notesSlide" Target="/ppt/notesSlides/notesSlide3.xml" Id="Rcad791441d50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d7aee853846b3" /><Relationship Type="http://schemas.openxmlformats.org/officeDocument/2006/relationships/notesSlide" Target="/ppt/notesSlides/notesSlide4.xml" Id="R3ed2e3a76c004c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99b0ea53446b9" /><Relationship Type="http://schemas.openxmlformats.org/officeDocument/2006/relationships/notesSlide" Target="/ppt/notesSlides/notesSlide5.xml" Id="R1bbf116ad17e4c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7af82f064d6f" /><Relationship Type="http://schemas.openxmlformats.org/officeDocument/2006/relationships/notesSlide" Target="/ppt/notesSlides/notesSlide6.xml" Id="R6e92b646186b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d1f5760a04f91" /><Relationship Type="http://schemas.openxmlformats.org/officeDocument/2006/relationships/notesSlide" Target="/ppt/notesSlides/notesSlide7.xml" Id="R91e7853428ee47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73e545e404ce0" /><Relationship Type="http://schemas.openxmlformats.org/officeDocument/2006/relationships/notesSlide" Target="/ppt/notesSlides/notesSlide8.xml" Id="Ra7a97cb79bec4e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87F278-13EA-4864-98D4-9DC7846A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43B98-91AB-42D7-9167-9C10F55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ED4401-C1D9-4AF5-8DF3-235EF24E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433978-E36D-4F74-9DBF-23B52CC0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SUPERVISOR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72E15-450B-47C7-9A3F-00A340A1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9060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PAN 2017 Fine-Tuning MIA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BE789-7D33-4270-AF22-318D513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Supervisor update on the current Fairness-in-LLMs benchmark, the multi-seed PAN 2017 result, and the next scenario milestones.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E422-54B9-4591-8DDD-0BC5263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5600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A balanced multi-seed PAN 2017 run now gives the project a meaningful fine-tuning benchmark: weak but reproducible MIA signal, with the strongest attacks showing small subgroup differences.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5D556-B408-4B7D-99EF-D04FC1F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38200"/>
            <a:ext cx="41338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63EBF-F31D-45AF-99F3-FE7D42AF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62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0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D0D1"/>
                </a:solidFill>
                <a:latin typeface="Aptos"/>
                <a:ea typeface="Aptos"/>
                <a:cs typeface="Aptos"/>
              </a:rPr>
              <a:t>Current 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6BD75-95A5-4AE1-89B5-C9C8C9A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859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The benchmark has moved from pipeline validation into a supervisor-presentable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2EEB8-5D6B-4909-B29B-0A384D3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Fine-tuning is the strongest evidence path now. Pretraining and RAG remain explicit next milestones.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CE476-D363-498A-A424-213B47A2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85365-7F51-488C-B53A-DD330D0B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6000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D04FC-96E5-4561-9234-E6DE767A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Evaluation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1EAFA-4A10-47CA-9B5B-0FBD997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767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49FAA-9DC2-44FE-B851-6D45534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91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3AF87-B322-4C8F-9FE3-3F5AAACE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76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Random seeds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1FB30-AD8E-4629-8265-BEE001B8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6481D-6EBF-4039-8368-1CF751B1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928E2E-E9CE-447C-9BDA-40C6C851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MIA families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0AE9C-A807-447F-9448-7272B922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76750"/>
            <a:ext cx="2400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E1366-4240-4D5F-915D-FFDAD89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9105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Pythia-160m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6C8FF-0ED7-469A-95A8-6ACAB0D4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76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LoRA target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421A3-E73A-433E-99A6-28E8E07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B2FE7-4126-49A6-A6AD-C056741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docs/SUPERVISOR_UPDATE_PAN17_MULTISEED.md; outputs/vm_finetune_lora_pythia_160m_seed*_ep4/run_manifest.json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2FA9D-EABD-43E2-8EDB-580881A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225F4-99AD-49AD-B59D-30AB336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25813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99071-FA0F-45E7-A58B-D37E564B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FDFF6-1F6E-4F03-B949-5FE9AA67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08295E-B447-4488-BBB2-86392B32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C6CA53-4402-4DA5-A1E7-4E762BDE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9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9B8C"/>
                </a:solidFill>
                <a:latin typeface="Aptos"/>
                <a:ea typeface="Aptos"/>
                <a:cs typeface="Aptos"/>
              </a:rPr>
              <a:t>BENCHMARK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77C97-2069-4BD4-A4D0-BBE1CDE9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71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Fine-tuning is now meaningful; pretraining and RAG are clearly defined next milestones.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9DA7F-B512-40AA-8BEC-2B00916B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repo, docs, and current outputs now line up around three scenarios instead of a single ambiguous run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C7823-79D6-4789-A802-E674D65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D232F-E7CB-46DB-BD88-E1F13DC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8FD6B-7DB7-4CEC-B136-193F50C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Pretraining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92263-411F-4DB0-8757-F33C4B0F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9B8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C9B8C"/>
                </a:solidFill>
                <a:latin typeface="Aptos"/>
                <a:ea typeface="Aptos"/>
                <a:cs typeface="Aptos"/>
              </a:rPr>
              <a:t>Mechanics ready, fairness baseline not final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9B94B-FB90-412A-AD58-73BA05E5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Pipeline exists, but the checked-in Pile sample uses synthetic groups. Good for mechanics, not yet for demographic claims.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0785A-538D-4FBD-8106-F397F53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Do not overclaim yet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F57A0-6BB3-4E3D-9313-123A3E33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EEFD1-B5EC-49C3-94BE-B1EA24F6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112AF-3396-4F33-9E13-C71BA74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Fine-tuning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357FE-7E78-4FDA-9FD9-9589A146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Meaningful and supervisor-presentable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3AA09-9313-4F23-8255-8C8214A7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Balanced PAN 2017 English windows, multi-seed LoRA runs, and group-disaggregated reporting now support a careful progress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3A605-BA99-464D-B30C-B846102B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149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Current evidence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09A56-3E5D-49DB-9A96-E600DCE3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794D7-CAC7-4707-8E24-00977B04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371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7D21D-50BD-4673-BAEF-D0A9F84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D30AC-CDEE-43E4-9E0D-3D627968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724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583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83B"/>
                </a:solidFill>
                <a:latin typeface="Aptos"/>
                <a:ea typeface="Aptos"/>
                <a:cs typeface="Aptos"/>
              </a:rPr>
              <a:t>Intentionally blocked until scoring is 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855E9-6726-4EDB-9B52-16749FBF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The code now rejects diagnostic-only RAG runs. Retrieved context must be injected into model scoring before any benchmark claim.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B6401-F58C-4221-A32A-B53DC0D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149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Do not overclaim yet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2028E-B988-4200-AADC-47A54170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C"/>
          </a:solidFill>
          <a:ln xmlns:a="http://schemas.openxmlformats.org/drawingml/2006/main" w="0">
            <a:solidFill>
              <a:srgbClr val="E9DD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E08BE1-9F7D-43C4-BE80-23675213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81675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Document status: README and VM handoff reflect the current runnable path. One older wording drift remains in PRD/TRD: they still mention PAN 2018 in places, while the executable fine-tuning workflow now uses PAN 2017 English XML.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5B942-0E2C-4834-A463-1175EB6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7E669-88A1-4445-90CF-34ED0DBC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README.md; docs/prd_fair_privacy_llm.md; docs/technical_requirements.md; docs/VM_HANDOFF.md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BC01D7-D87B-4F61-9AA3-4428741F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078A2-EF51-42D5-9FDF-A8E86185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63206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46BC4-31A6-4F73-B509-1351105E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1C526-D50A-43FD-9494-B069CC68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4DBAF68-FFC6-4CEC-94B7-ABAC0EA1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4BA34A-F596-4169-ADE8-F1AC91FA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99DE3-7FCE-418C-9540-BBBCC95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71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The new PAN 2017 pipeline fixes the benchmark weaknesses that made earlier runs hard to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96D6C-3F1F-4006-9D9E-A4A4ED1A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core improvement is structural: exact 256-token windows, balanced group x variety x membership buckets, and bounded overlap diagnostics.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20080-7628-45FD-9760-B7862A0F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64945-00B3-4D82-8092-F8D111FC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F375F-DC35-4AA2-B8E9-EA2E64F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PAN XML 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13144-2F87-4859-B7F9-2895408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Training authors -&gt; member. Test authors -&gt; nonmember. female -&gt; G0, male -&gt; G1.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4EF41-01EA-47A7-998F-485E80C6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908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654D4-19AE-498E-A25A-218A1AB9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79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C20D9-D677-47FD-9C3C-9792D158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CDC06-E92C-4AC8-B46A-B0BEDF1E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38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Token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28A3F-B966-4A7B-8E5E-8E1CF011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766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Concatenate each author, tokenize once with Pythia-160m tokenizer, split into exact 256-token windows.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1FC4C-CD13-4FD7-9F88-888E903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048918-7D56-45C8-A458-BA2CC796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479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7834D-4400-4477-B735-05C957EE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AF149-E93B-4596-862B-02F24FF8E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Balanced buckets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847E5-2AFD-4EA5-B0BE-7CB647E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Match by group x variety x membership and cap each bucket at 250 windows.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016D6-D5E6-4329-AE40-9AFD7443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8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B4A09-31AC-4020-B8E3-7D821C74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38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DD1EC-B985-4107-8532-3AB4060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DE6B71-FE50-4005-A9EF-169E4A7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LoRA 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C7778-4D75-4EDA-879F-412812D5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76600"/>
            <a:ext cx="1952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Train on stratified member subset, then score with five attacks under balanced evaluation.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35D04-F848-4C4F-99D8-78E990B6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5334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A3DDF-D4AA-4400-8E28-48A67094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Balanced evaluation 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BE2E1-6E6F-4393-9BC1-31297FB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9EAAD-F946-43E7-A28F-7690D5F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G0 member: 1500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2A627-6414-443D-B917-F4FB38C0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623AE3-3E12-4C9F-89AE-EC380C5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G0 nonmember: 1500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3C4A1-79E9-496C-940A-666AF862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A953-9110-41EB-964C-B5F4F670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G1 member: 1500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275BB-65EB-4183-BE2F-BD6058F7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43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8E5001-07D9-494A-B977-D22704E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G1 nonmember: 1500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AAA45E-A8FF-40CC-8CEF-12F58F8F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10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0E2EA1-A3E5-478C-9464-153CE59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341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6 English varieties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76C98-2A36-4AFD-BEDF-B7CFE35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7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FB80E-34F6-49AC-9102-CD89835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400800"/>
            <a:ext cx="459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250 windows per group x variety x membership bucket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D126DD-1E26-4C7F-91FC-ACA8B9DC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8768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8538AE-D562-4140-9471-65C87B7D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Overlap guardrails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977C20-0524-43AF-A777-2B9A3194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Sampled nonmembers: 250</a:t>
            </a:r>
          </a:p>
          <a:p xmlns:a="http://schemas.openxmlformats.org/drawingml/2006/main">
            <a:pPr algn="l">
              <a:defRPr sz="112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Members per nonmember: 250</a:t>
            </a:r>
          </a:p>
          <a:p xmlns:a="http://schemas.openxmlformats.org/drawingml/2006/main">
            <a:pPr algn="l">
              <a:defRPr sz="112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Total pairs evaluated: 62500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566173-CE8D-49B3-AE5E-A8668509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5310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D0D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0D1"/>
                </a:solidFill>
                <a:latin typeface="Aptos"/>
                <a:ea typeface="Aptos"/>
                <a:cs typeface="Aptos"/>
              </a:rPr>
              <a:t>Max overlap remained low (4-gram 0.05814, 7-gram 0.010989, 13-gram 0).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BDB03D-BB8A-4340-A841-5928263A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B929B0-793C-466E-B6FC-1B59645D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docs/SUPERVISOR_UPDATE_PAN17_MULTISEED.md; outputs/vm_finetune_lora_pythia_160m_seed29_ep4/run_manifest.json; overlap_report.json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07A20-9017-446F-87FE-0ADCBC74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FD123B-66EE-4C34-B333-AA305C82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3738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F379C-1A1F-4E5E-BF88-DD87240E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32BD9-0C33-498D-95BF-14577D1D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D85E5F-8F22-489A-A32B-59BE1192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A1AC29-C3BD-4743-A845-500692A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8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583B"/>
                </a:solidFill>
                <a:latin typeface="Aptos"/>
                <a:ea typeface="Aptos"/>
                <a:cs typeface="Aptos"/>
              </a:rPr>
              <a:t>ATTACK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A90FA-EE29-4D15-8BB6-11E7C8C6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71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The benchmark now tests five MIA families, so the result is not pinned to a single attack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FFD91-41BE-4DB6-A34A-F0F3B118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That matters because the project goal is a general fairness pattern across attack families, not a one-attack headline.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ADEED-3D91-48FA-92BF-585E88FB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33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FC86D-EE7D-47EF-A269-9C86F9C1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548D2-C67C-4840-B35A-5E77DAED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likelihood-based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14824-AE7D-4CD6-BCA2-44B30F94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Uses mean target-model loss. Lower loss implies stronger membership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117FC-69B8-40F7-B102-D4A071A6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3333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88F0B-6EF3-4859-830F-F43AFE9B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1A370-27E4-41B4-9EAB-0A421892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3200"/>
            <a:ext cx="2914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calibrated/reference-based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CE636-89AC-450F-B3AE-B29F0795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Compares target-model loss against a reference model on the same 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A93FF-666D-4EC5-A338-23AE1E6C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47900"/>
            <a:ext cx="33528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CF82C-59AD-4A43-9E14-54A79F45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zlib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D845E-F521-46B4-B7D2-1F44FBE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933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compression-normalized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ADFED-AF17-474A-9ED9-7A18834F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480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Normalizes loss by text compressibility to control for input complexity.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676C9-6315-42BB-9BAE-7ADB5CB7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5143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94BF3-8B6B-4323-96D9-04692116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min_k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89A22-7849-4942-854C-2663DE8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3390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token-tail likelihood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37447-50EB-4BB7-8A61-2B1EED2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Focuses on the hardest token region instead of the whole-sequence average.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A0852-806E-4456-BF9A-717A6433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38600"/>
            <a:ext cx="5143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7789D-F8EB-45DF-83DD-6BC8348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neighborhood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5D5C09-8A36-42F5-B2C1-9A2A245F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17D"/>
                </a:solidFill>
                <a:latin typeface="Aptos"/>
                <a:ea typeface="Aptos"/>
                <a:cs typeface="Aptos"/>
              </a:rPr>
              <a:t>perturbation-based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C10E8-12EF-4738-AC03-819BE16A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38700"/>
            <a:ext cx="4724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Compares target loss against deterministic perturbed neighbors.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1697A-4FE5-4A44-A944-B27760D3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Current reading: loss and min-k carry the strongest signal in the present fine-tuning setting; weaker attacks remain useful as a robustness check against overclaiming.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BECB52-87C5-46C4-AB14-EF660C6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60BD4-565A-44C8-81D2-764060D0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src/fair_mia/attacks/*.py; docs/prd_fair_privacy_llm.md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A327CC-032E-4F87-A878-C346B4F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F533D1-9680-442B-93C4-CCC7DD97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5722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655A5D-0690-42F1-8D1E-5F9341E0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FF4BB-C27C-474F-8B14-4EA0F43F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AD3929-4578-47B4-B7D9-8E859D10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50DCBF-81F3-4194-ADF5-8FAE6110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916E4-0D65-4580-925E-B71CC4AA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Loss and min-k are the strongest attacks, but the absolute signal remains weak.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4A8A6-34A5-4955-BD33-4F816A5B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Mean AUC across three 4-epoch seeds shows stable ranking without a dramatic separation from chance.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AE07E-369A-4952-ACF7-99C7E51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476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1CB3E-9D7A-46A5-89CC-9119059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0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D0D1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DF3A9-0A3E-4EB1-9589-049B6582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The benchmark now has a stable ordering of attack families.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CFAF7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FCFAF7"/>
                </a:solidFill>
                <a:latin typeface="Georgia"/>
                <a:ea typeface="Georgia"/>
                <a:cs typeface="Georgia"/>
              </a:rPr>
              <a:t>That is enough for a supervisor-facing progress claim, but not for a strong leakage headline.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E4C70-B0D6-4101-9551-B00432A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Stable enough to discuss, not to oversell.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D6516-85DE-46E9-861B-02A9E7FC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52650"/>
            <a:ext cx="74295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20F34-6A44-4C17-B912-E71C553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150" y="217170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41290-74DB-40C2-8929-36FB0AB5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0002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4583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4583B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97A88-6664-456E-AE42-1B91EC67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0292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B38FA-1318-4521-8A7F-C2F0E87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006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25341-B381-4458-AB55-82C02E7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150" y="50292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48A0B-12F8-42DD-B859-A40B46C9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52006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C015B-2A92-4030-84E1-7ABC5FFA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50292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EEE73-0154-49B4-A1E1-8F72AF9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850" y="52006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64A1C-2258-4DE9-B6FC-E1368BBF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0292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68EAF-EC09-4B50-9D78-6D5C3A9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0065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0.52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4106A-CBD4-4066-BA78-605304E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050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min_k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CC6C2-C96A-4317-956A-BE0E299F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527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mean 0.515573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BF5AF-046A-41C7-B431-CABD8FD1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7222D6-A132-43E2-807D-2000E1EC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381613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F0DD31-53E2-430A-9C5B-E4EED950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145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0.515573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A60B9-21F3-486D-8FD1-F26535AF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527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0.515619 | 0.514894 | 0.516205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13F93-DBD7-4707-9514-A2276860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384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665EE-EF6B-445A-B5F6-836805A0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861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mean 0.513948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BD172-D659-450B-AF61-925F2515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4160E-F9BD-41EC-9F97-732A18F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95600"/>
            <a:ext cx="3573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2F6F7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3FD4E-E259-461A-A8C3-BAA3732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0.513948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2E16A-4AC2-402C-8A93-0351BCE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861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0.514727 | 0.513627 | 0.513489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722806-F83A-4C37-8941-C189BE8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718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neighborhood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6F10A-FB69-45A5-AB5D-CE483A6D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195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mean 0.503889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73D8EF-2A67-4842-8D23-0895BB9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3E543E-15D4-4A2E-A436-E8D1061C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29000"/>
            <a:ext cx="20725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BAB330-1278-404E-9E56-355C06D9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813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0.503889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268258-4CF3-4A87-89F3-7BF0CECA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0.504673 | 0.509081 | 0.497913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DE9C58-597E-4A10-BB48-4DA46DD2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052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reference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C4DDE6-2934-4FE2-9672-DFC5236F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529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mean 0.503466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7FE477-45AF-4003-AF49-D3BFA93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624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E3AD64-6EE5-4D39-8074-503644BD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62400"/>
            <a:ext cx="20094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8670"/>
          </a:solidFill>
          <a:ln xmlns:a="http://schemas.openxmlformats.org/drawingml/2006/main" w="0">
            <a:solidFill>
              <a:srgbClr val="9A867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50AC97-CE40-474C-8361-C5DD191D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147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0.503466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A13636-BE82-4708-B11F-2E34ED7C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529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0.507986 | 0.504099 | 0.498314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07C040-6259-4FAB-9105-A6713DE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386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zlib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8529F1-8C43-44D4-B063-42A341D7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mean 0.496988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587217-6FA5-4E2A-83FA-5E6BD90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A5265E0-2CD4-4BC5-B537-E3EC0BAF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95800"/>
            <a:ext cx="10427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149E22-DDE7-41A8-BD5B-7CCD37F7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4817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0.496988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F53B7F-76B1-4FE6-BDE1-0B6F88E2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6717D"/>
                </a:solidFill>
                <a:latin typeface="Aptos Mono"/>
                <a:ea typeface="Aptos Mono"/>
                <a:cs typeface="Aptos Mono"/>
              </a:rPr>
              <a:t>0.496966 | 0.498172 | 0.495825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779EBC-3A72-4C22-B4BA-DD11610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Per-seed readout at right is ordered as seed 29 | seed 41 | seed 53.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E253BA-9743-4C0F-922A-59E4CB46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7BF309-A2BF-4C6B-BB1F-FFBB4E2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outputs/vm_finetune_lora_pythia_160m_seed29_ep4/summary.csv; seed41 summary.csv; seed53 summary.csv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6BCB2E-6068-4D6C-8002-0FC1C61B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00E6B4-3F85-49C4-8418-41F5E8ED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21264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B6E12-8DC2-449A-AEBF-5B50D3C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9DD0-8F3C-47B5-8B28-EFDDC844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76B42F-AA49-4839-9C43-961CBF90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27C058-E1EB-454F-992F-0356BA3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C9B8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9B8C"/>
                </a:solidFill>
                <a:latin typeface="Aptos"/>
                <a:ea typeface="Aptos"/>
                <a:cs typeface="Aptos"/>
              </a:rPr>
              <a:t>SUBGROUP 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BC76A-933F-4844-A819-7FA45628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The strongest attacks show small but consistent G0 &gt; G1 exposure gaps under balanced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5B2AB-9410-494B-82E3-320E6EED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This is the key fairness signal so far: modest in size, directionally stable, and no longer confounded by majority-class accuracy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AF898-416E-420D-BA77-10386B42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857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6C819-BE57-4DA3-AB92-ADE5BED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loss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7D0B4-8405-40DE-A59D-B4E16DF0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Mean subgroup gap: 0.014004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D8D8D-6C93-470C-8674-19E7DAEE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A33"/>
                </a:solidFill>
                <a:latin typeface="Aptos"/>
                <a:ea typeface="Aptos"/>
                <a:cs typeface="Aptos"/>
              </a:rPr>
              <a:t>G0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20608-4DE4-4439-8156-50819526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C1473-AFA7-4E75-9E68-1F5113E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33750"/>
            <a:ext cx="148305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D9BDE-C3A0-41C8-95CE-1105D4E7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051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0.521232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2E520-9322-4750-84F0-B36FF458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A33"/>
                </a:solidFill>
                <a:latin typeface="Aptos"/>
                <a:ea typeface="Aptos"/>
                <a:cs typeface="Aptos"/>
              </a:rPr>
              <a:t>G1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C32B7-CFA8-4458-8DA9-FD52EB1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95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EF2D9-5545-4E0B-97F5-28057008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19550"/>
            <a:ext cx="50480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FF759-4654-4752-83C8-8C451C64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909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0.507227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E3F3F-ED10-4C37-A7E3-2842557C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43150"/>
            <a:ext cx="5372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5DFB2-7329-4ADD-8E3B-C0211AC2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33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min_k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9AFA3-ED96-430E-96AB-E205B75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Mean subgroup gap: 0.018378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10A15-D635-4850-96D3-9CE7AF6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A33"/>
                </a:solidFill>
                <a:latin typeface="Aptos"/>
                <a:ea typeface="Aptos"/>
                <a:cs typeface="Aptos"/>
              </a:rPr>
              <a:t>G0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E94F2-E806-42CC-85A5-7A38196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46349-E307-4571-8677-A08F294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175030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63ED88-CEAE-471E-9FD2-28510532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051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0.525058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B98947-06BC-4258-8912-743909CC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A33"/>
                </a:solidFill>
                <a:latin typeface="Aptos"/>
                <a:ea typeface="Aptos"/>
                <a:cs typeface="Aptos"/>
              </a:rPr>
              <a:t>G1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F46E0B-3245-46F2-B46E-2397E0FC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B"/>
          </a:solidFill>
          <a:ln xmlns:a="http://schemas.openxmlformats.org/drawingml/2006/main" w="0">
            <a:solidFill>
              <a:srgbClr val="EFE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D38B56-2EF2-4B0A-BAFD-675236CE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66598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41168-1849-4957-A41E-2660F46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909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1F2A33"/>
                </a:solidFill>
                <a:latin typeface="Aptos Mono"/>
                <a:ea typeface="Aptos Mono"/>
                <a:cs typeface="Aptos Mono"/>
              </a:rPr>
              <a:t>0.506680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23862-E854-41F2-AAB1-4515892D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553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74DA1-06C7-4A91-A0E5-9108850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48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FD0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FD0D1"/>
                </a:solidFill>
                <a:latin typeface="Aptos"/>
                <a:ea typeface="Aptos"/>
                <a:cs typeface="Aptos"/>
              </a:rPr>
              <a:t>Interpretation guardrail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CAA9AB-0C02-43A6-96F1-3D6985A2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942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AF7"/>
                </a:solidFill>
                <a:latin typeface="Aptos"/>
                <a:ea typeface="Aptos"/>
                <a:cs typeface="Aptos"/>
              </a:rPr>
              <a:t>Balanced evaluation means majority_class_accuracy is exactly 0.5, while accuracy and balanced_accuracy track each other closely. The earlier 0.6-style accuracy inflation from imbalance is gone.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AD2FC-7613-433D-83DB-69D058E4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673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D7DF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DFE5"/>
                </a:solidFill>
                <a:latin typeface="Aptos"/>
                <a:ea typeface="Aptos"/>
                <a:cs typeface="Aptos"/>
              </a:rPr>
              <a:t>Baseline: 0.50 chance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2C614-5335-4F9A-9EE4-D8E80B5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235A2-8A1C-4ABA-989D-4314212E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outputs/vm_finetune_lora_pythia_160m_seed29_ep4/summary.csv; seed41 summary.csv; seed53 summary.csv; run_manifest.json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E2EAD-6369-4347-88DD-2A5C2194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2C2194-91B1-423D-AAF2-AA376242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77673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A6E82-9A55-42EE-9EA7-5374A199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3CE8D-1401-4B6F-8BB9-FB45FC6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54C5A48-0E10-4ED5-B9BA-ABE15E06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09D55B-E3C7-409C-8839-CEB8A69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58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583B"/>
                </a:solidFill>
                <a:latin typeface="Aptos"/>
                <a:ea typeface="Aptos"/>
                <a:cs typeface="Aptos"/>
              </a:rPr>
              <a:t>CLAIM DISCIPLINE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3861C-DEF2-49F4-8CE7-5333DC10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The right message is progress with discipline: meaningful evidence, but not a strong-leakage headline.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8635B-E719-47B6-9BF2-0A98E94F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This slide is the supervisor-safe boundary between what the runs support now and what still requires more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D2D33-9289-4120-8771-F84CDFF8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46DDE-E878-4A33-A1B1-26268670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Supported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03DF5-1FC7-4F61-8F37-28E9C162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EAD0F-FDEB-4E03-B3CD-4940A30D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Balanced PAN 2017 fine-tuning result is now valid.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DD185-66ED-40E4-85ED-FBC05634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A1F0D-D3FB-43E4-BF3A-550E0E9F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Loss and min-k are the strongest attacks here.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8295E-3D09-4A1F-94EF-ACE60CF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B713A-EF05-49CF-A21F-8A09DC1F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Signal is weak, but reproducible across seeds.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FAFF9-6CB3-4A3E-9AD0-01DD0DA3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64537C-BB80-4FF2-8909-94E7BD8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Strongest attacks show small stable subgroup gaps.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8C5BF-EE6F-43FE-902D-2BAA23B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5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CC1FB-3945-4D65-B3B9-42208843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Not supported 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3C668-A217-4504-8F64-7800B9C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2A3F2-BE4C-4915-925A-5BC41563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718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Strong leakage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4BE6A-7785-4E7E-BE88-AD614121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0B9C2-3F57-429B-8FAC-FF097B8F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Universal fairness conclusions across all attacks.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D9314-B080-4CB0-BB98-8B01212E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E488E-D2D7-4223-9735-C812295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Final statistics without confidence intervals.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C0641-B96D-45EE-AD03-6334B85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37A820-9075-4950-AC14-C8E53589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411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Any RAG benchmark claim before context injection.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FF68A3-72A7-4C16-81F3-6CF2A3AB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69DD1A-7237-4F78-A6DC-69AC13F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docs/SUPERVISOR_UPDATE_PAN17_MULTISEED.md; papers/Do Membership Inference AttacksWork on Large Language Models_.pdf; papers/22-Understanding Disparate Effects.pdf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84F14-0998-44E1-AFB1-6E024A3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04D4E-FB92-4D4D-BD36-330A4ED4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07562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2D7DD-3ED8-4ED6-84D3-90D3235F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0">
            <a:solidFill>
              <a:srgbClr val="F5EF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B7F7-1A9D-48DA-B0E1-6D48700B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B20F6F9-2AC2-495B-B60E-058EB2DB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52DD64-E7AB-4723-A322-BB5573EE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5E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5E6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967D2-D66C-4EA8-BC87-292F7BB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952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The next value lift is scenario expansion and statistical reliability, not cosmetic tuning.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A0235-D8F9-44D5-90F4-E96A6E90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The benchmark now has a credible fine-tuning anchor. The next milestones should widen scenario coverage and sharpen evidence quality.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5E60D-88EC-405D-BD36-B7352932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885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300EE-A5B9-4E18-9AD1-8FC6B82F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952F4-ACF4-4047-ACB7-5B9CFDF5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04ED8-F319-49E2-8515-5416315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Real pretraining fairness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47032-B0B0-4D2F-8967-D17A795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Replace synthetic-group mechanics with a real subgroup-aware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D7B0F-0C96-4F7B-813D-7D46155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19350"/>
            <a:ext cx="1885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C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BC3D5-F454-4202-8D46-D6D563C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193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710CA-F35E-4202-AF59-1EB0D1D2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47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E975C-FE6A-42EC-920E-1CD1F160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True RAG scoring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17ED8-EA83-4120-831F-3423CF44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243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Inject retrieved passages into scoring and compare retrieval off versus 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78E40D-5D37-4C01-9B79-55EDA29D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885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EB635-A4DA-4E87-A299-CBE6A587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193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C"/>
          </a:solidFill>
          <a:ln xmlns:a="http://schemas.openxmlformats.org/drawingml/2006/main" w="0">
            <a:solidFill>
              <a:srgbClr val="7C9B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EE0E16-88D1-4948-B0EE-049617C2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47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9B8C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7C9B8C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4DCB3-2EF0-4B9D-A7C4-9A9C2AB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Statistical reliability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887B4-E676-4E41-AEC0-249A15A2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243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Add bootstrap intervals and extend the seed sweep where runtime allows.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36CA66-4E8C-45A2-BCF4-35960D4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885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C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DDACA-8D95-4D2C-B1AD-AC388425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E63"/>
          </a:solidFill>
          <a:ln xmlns:a="http://schemas.openxmlformats.org/drawingml/2006/main" w="0">
            <a:solidFill>
              <a:srgbClr val="175E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247CB3-01F8-494C-A71F-21AA865B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47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5E6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75E63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26108-611E-433A-9593-C6D1E78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Model ladder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E345D2-2242-4B58-AE5D-BF317EAB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Repeat the balanced PAN workflow on Pythia-410m and then 1b.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F2EF9-244F-4CD6-8F81-3E60DD9B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19350"/>
            <a:ext cx="18859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7"/>
          </a:solidFill>
          <a:ln xmlns:a="http://schemas.openxmlformats.org/drawingml/2006/main" w="9525">
            <a:solidFill>
              <a:srgbClr val="CDBE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51B5E-45A9-43FD-8DE3-D3E92B7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19350"/>
            <a:ext cx="1885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83B"/>
          </a:solidFill>
          <a:ln xmlns:a="http://schemas.openxmlformats.org/drawingml/2006/main" w="0">
            <a:solidFill>
              <a:srgbClr val="B458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B71128-5670-48F1-BFD6-337B4EAC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47950"/>
            <a:ext cx="43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83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B4583B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16E0E1-582C-46B6-9FB9-C67E46BC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A33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1F2A33"/>
                </a:solidFill>
                <a:latin typeface="Georgia"/>
                <a:ea typeface="Georgia"/>
                <a:cs typeface="Georgia"/>
              </a:rPr>
              <a:t>Defense benchmarking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9AF29C-B24B-4C65-BC3B-BC0D38F3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24300"/>
            <a:ext cx="152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A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A33"/>
                </a:solidFill>
                <a:latin typeface="Aptos"/>
                <a:ea typeface="Aptos"/>
                <a:cs typeface="Aptos"/>
              </a:rPr>
              <a:t>Measure whether privacy protection is distributed evenly across G0 and G1.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560E9-DB9C-473D-9BEF-1F205283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55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1A7152-C53F-4EC3-AF6E-50500057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990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CFAF7"/>
                </a:solidFill>
                <a:latin typeface="Aptos"/>
                <a:ea typeface="Aptos"/>
                <a:cs typeface="Aptos"/>
              </a:rPr>
              <a:t>Supervisor-facing takeaway: the project is ready to discuss as real progress now; the next milestone is a cross-scenario benchmark, not another one-off fine-tuning run.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F4504D-52AD-4A5F-9615-20A8B849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15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EAA"/>
          </a:solidFill>
          <a:ln xmlns:a="http://schemas.openxmlformats.org/drawingml/2006/main" w="0">
            <a:solidFill>
              <a:srgbClr val="CDBEA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E5C6C-B0C5-4A52-97D6-9B5F641F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81775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17D"/>
                </a:solidFill>
                <a:latin typeface="Aptos"/>
                <a:ea typeface="Aptos"/>
                <a:cs typeface="Aptos"/>
              </a:rPr>
              <a:t>Source: docs/SUPERVISOR_UPDATE_PAN17_MULTISEED.md; docs/prd_fair_privacy_llm.md; docs/technical_requirements.md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9BE6A5-C033-4B41-AE36-F53946B8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33"/>
          </a:solidFill>
          <a:ln xmlns:a="http://schemas.openxmlformats.org/drawingml/2006/main" w="0">
            <a:solidFill>
              <a:srgbClr val="1F2A3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CB3201-1107-4CBB-AD22-F9C5A0F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436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8594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2026-06-13T10:36:29.8010000Z</dcterms:created>
  <dcterms:modified xsi:type="dcterms:W3CDTF">2026-06-13T10:36:29.8010000Z</dcterms:modified>
</coreProperties>
</file>